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6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8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4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3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3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8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7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7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6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1715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9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23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44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3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7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56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400" b="1">
                <a:solidFill>
                  <a:srgbClr val="73DCD7"/>
                </a:solidFill>
                <a:latin typeface="Aptos"/>
              </a:defRPr>
            </a:pPr>
            <a:r>
              <a:t>SAFARILINK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Transport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102412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ptos"/>
              </a:defRPr>
            </a:pPr>
            <a:r>
              <a:t>Customer, Revenue &amp; Demand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10241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0">
                <a:solidFill>
                  <a:srgbClr val="D2E1E8"/>
                </a:solidFill>
                <a:latin typeface="Aptos"/>
              </a:defRPr>
            </a:pPr>
            <a:r>
              <a:t>Data Science &amp; Analytics Capstone |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102412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D2E1E8"/>
                </a:solidFill>
                <a:latin typeface="Aptos"/>
              </a:defRPr>
            </a:pPr>
            <a:r>
              <a:t>Synthetic Kenyan intercity transport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709DB-51AF-FFC2-E290-3444C8EC72C0}"/>
              </a:ext>
            </a:extLst>
          </p:cNvPr>
          <p:cNvSpPr txBox="1"/>
          <p:nvPr/>
        </p:nvSpPr>
        <p:spPr>
          <a:xfrm>
            <a:off x="8109857" y="6096000"/>
            <a:ext cx="349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Analyst:    Nelima Lindah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Turning operational bookings into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Management needs to understand when demand peaks and how it varies around holidays.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Revenue must be compared across routes to support evidence-based resource allocation.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Payment preferences and customer churn can reveal operational and retention priorities.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The project combines data preparation, EDA, SQL, statistical testing, forecasting, and a Power BI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Data and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End-to-end, reproducible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Synthetic booking, customer, branch, route, and holiday data; supplemented by contextual public indicators where available.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Cleaning: remove exact duplicates, standardise payment labels, handle fare anomalies, and flag missing payment methods.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Analysis: Python EDA and statistical testing; SQLite queries for route, time, and customer insights.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Forecasting: monthly booking demand using a Random Forest model and a previous-month baseline.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Communication: interactive Power BI dashboard with date, route, and payment-method slicers.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Demand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Seasonality and holiday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December recorded the highest booking demand in the analysed data.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April and August also showed relatively strong demand.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Average daily bookings were higher on public holidays and nearby holiday dates than on ordinary days.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Operational implication: plan vehicles, drivers, staffing, and departure schedules before expected peaks.</a:t>
            </a:r>
          </a:p>
          <a:p>
            <a:pPr>
              <a:spcAft>
                <a:spcPts val="14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Validate peak planning against seat occupancy and route-level demand before adding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Route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Revenue signals where to investigate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Highest-revenue routes: Nairobi–Mombasa, Mombasa–Nairobi, and Nairobi–Kisumu.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Use route revenue to identify where deeper operational review may be valuable.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Revenue alone does not prove profitability: compare fuel, maintenance, staffing, occupancy, and other costs.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Prioritise decisions using both financial and service-capacity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Payments and customer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Two opportunities for operational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14600" cy="123444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600" b="1">
                <a:solidFill>
                  <a:srgbClr val="00848C"/>
                </a:solidFill>
              </a:defRPr>
            </a:pPr>
            <a:r>
              <a:t>73.06%</a:t>
            </a:r>
          </a:p>
          <a:p>
            <a:pPr algn="ctr">
              <a:defRPr sz="1400">
                <a:solidFill>
                  <a:srgbClr val="14304A"/>
                </a:solidFill>
              </a:defRPr>
            </a:pPr>
            <a:r>
              <a:t>M-Pesa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14600" cy="123444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600" b="1">
                <a:solidFill>
                  <a:srgbClr val="00848C"/>
                </a:solidFill>
              </a:defRPr>
            </a:pPr>
            <a:r>
              <a:t>15.53%</a:t>
            </a:r>
          </a:p>
          <a:p>
            <a:pPr algn="ctr">
              <a:defRPr sz="1400">
                <a:solidFill>
                  <a:srgbClr val="14304A"/>
                </a:solidFill>
              </a:defRPr>
            </a:pPr>
            <a:r>
              <a:t>Cash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45920"/>
            <a:ext cx="2514600" cy="123444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600" b="1">
                <a:solidFill>
                  <a:srgbClr val="00848C"/>
                </a:solidFill>
              </a:defRPr>
            </a:pPr>
            <a:r>
              <a:t>8.42%</a:t>
            </a:r>
          </a:p>
          <a:p>
            <a:pPr algn="ctr">
              <a:defRPr sz="1400">
                <a:solidFill>
                  <a:srgbClr val="14304A"/>
                </a:solidFill>
              </a:defRPr>
            </a:pPr>
            <a:r>
              <a:t>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514600" cy="123444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600" b="1">
                <a:solidFill>
                  <a:srgbClr val="00848C"/>
                </a:solidFill>
              </a:defRPr>
            </a:pPr>
            <a:r>
              <a:t>27.90%</a:t>
            </a:r>
          </a:p>
          <a:p>
            <a:pPr algn="ctr">
              <a:defRPr sz="1400">
                <a:solidFill>
                  <a:srgbClr val="14304A"/>
                </a:solidFill>
              </a:defRPr>
            </a:pPr>
            <a:r>
              <a:t>Recorded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Occasional customers had the highest segment churn rate at 28.87%.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20,621 bookings had unknown payment methods—a data-quality issue to investigate.</a:t>
            </a:r>
          </a:p>
          <a:p>
            <a:pPr>
              <a:spcAft>
                <a:spcPts val="14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Keep M-Pesa reliable, retain alternative payment options, and test targeted re-engagement for occasional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Demand forecast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Random Forest outperformed the simple baseline on the test period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84632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5F6C76"/>
                </a:solidFill>
              </a:defRPr>
            </a:pPr>
            <a:r>
              <a:t>Random Forest MAE</a:t>
            </a:r>
          </a:p>
          <a:p>
            <a:pPr algn="ctr">
              <a:defRPr sz="2200" b="1">
                <a:solidFill>
                  <a:srgbClr val="14304A"/>
                </a:solidFill>
              </a:defRPr>
            </a:pPr>
            <a:r>
              <a:t>492 bookings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00200"/>
            <a:ext cx="484632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5F6C76"/>
                </a:solidFill>
              </a:defRPr>
            </a:pPr>
            <a:r>
              <a:t>Baseline MAE</a:t>
            </a:r>
          </a:p>
          <a:p>
            <a:pPr algn="ctr">
              <a:defRPr sz="2200" b="1">
                <a:solidFill>
                  <a:srgbClr val="14304A"/>
                </a:solidFill>
              </a:defRPr>
            </a:pPr>
            <a:r>
              <a:t>2,803 bookings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484632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5F6C76"/>
                </a:solidFill>
              </a:defRPr>
            </a:pPr>
            <a:r>
              <a:t>Random Forest RMSE</a:t>
            </a:r>
          </a:p>
          <a:p>
            <a:pPr algn="ctr">
              <a:defRPr sz="2200" b="1">
                <a:solidFill>
                  <a:srgbClr val="14304A"/>
                </a:solidFill>
              </a:defRPr>
            </a:pPr>
            <a:r>
              <a:t>551 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484632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D7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5F6C76"/>
                </a:solidFill>
              </a:defRPr>
            </a:pPr>
            <a:r>
              <a:t>Baseline RMSE</a:t>
            </a:r>
          </a:p>
          <a:p>
            <a:pPr algn="ctr">
              <a:defRPr sz="2200" b="1">
                <a:solidFill>
                  <a:srgbClr val="14304A"/>
                </a:solidFill>
              </a:defRPr>
            </a:pPr>
            <a:r>
              <a:t>3,288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MAE was about 82.4% lower than the baseline; RMSE was about 83.2% lower.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Interpret cautiously: the evaluation period is short and uses synthetic data; validate on future real bookings before operational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Management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Convert analysis into measurable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Seasonal planning: prepare schedules and staffing for December, April, and August; review holiday patterns.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Route review: combine revenue with occupancy and operating costs before reallocating buses.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Payments: protect M-Pesa reliability while maintaining cash and card alternatives.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Retention: pilot repeat-travel incentives and re-engagement for occasional customers; measure repeat bookings.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Data quality: investigate unknown payment methods and add booking-form validation.</a:t>
            </a:r>
          </a:p>
          <a:p>
            <a:pPr>
              <a:spcAft>
                <a:spcPts val="14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Monitoring: review monthly bookings, route revenue, occupancy, payment mix, and churn on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304A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Responsible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The operational dataset is synthetic; patterns do not establish real-world business performance.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Route revenue is not profit; cost and occupancy data are needed for stronger decisions.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Forecast evaluation is based on a short test period; monitor errors as new data arrives.</a:t>
            </a:r>
          </a:p>
          <a:p>
            <a:pPr>
              <a:spcAft>
                <a:spcPts val="14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Next: validate with real operational data, improve missing-payment capture, and review forecasts monthly.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900" b="0">
                <a:solidFill>
                  <a:srgbClr val="5F6C76"/>
                </a:solidFill>
                <a:latin typeface="Aptos"/>
              </a:defRPr>
            </a:pPr>
            <a:r>
              <a:t>SAFARILINK • DATA SCIENCE &amp; ANALYTICS CAPSTONE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5196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Repository: https://github.com/NelimaL/safarilink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0">
                <a:solidFill>
                  <a:srgbClr val="D2E1E8"/>
                </a:solidFill>
                <a:latin typeface="Aptos"/>
              </a:defRPr>
            </a:pPr>
            <a:r>
              <a:t>Project files: README • environment.yml • notebooks • SQL • Power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D2E1E8"/>
                </a:solidFill>
                <a:latin typeface="Aptos"/>
              </a:defRPr>
            </a:pPr>
            <a:r>
              <a:t>Note: data is synthetic; findings are illustrative.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732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Lindah Nelima</cp:lastModifiedBy>
  <cp:revision>3</cp:revision>
  <dcterms:created xsi:type="dcterms:W3CDTF">2013-01-27T09:14:16Z</dcterms:created>
  <dcterms:modified xsi:type="dcterms:W3CDTF">2026-10-29T09:20:18Z</dcterms:modified>
  <cp:category/>
</cp:coreProperties>
</file>